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ĐỊNH GIÁ BẤT ĐỘNG SẢN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MACHINE LEARNING PHÂN TÁN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Kafka – Spark Structured Streaming – MinIO/S3 – PostgreSQL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tốt nghiệp  •  Nhóm 4 thành viên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vấn đề &amp; Kiến trúc tổng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bài toán, mục tiêu và thiết kế hệ thống end-to-end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Người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định giá BĐS bằng Machine Learning?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giá thủ công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29260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 kinh nghiệm môi giới, chủ quan, chênh lệch lớn giữa các nguồn tin đăng.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thay đổi liên tục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31720"/>
            <a:ext cx="29260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đăng BĐS phát sinh hằng ngày, giá bị ảnh hưởng bởi yếu tố vĩ mô (CPI, lãi suất).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7830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755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hệ thống tự động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331720"/>
            <a:ext cx="31089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thu thập – huấn luyện – dự đoán chạy liên tục, tự phát hiện lệch (drift) và tái huấn luyện.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1 |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hệ thống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pipeline dữ liệu phân tán, xử lý luồng tin đăng BĐS thời gian thực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model dự đoán giá, tối ưu bằng CrossValidator + tự động tuning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đánh giá và promote model mới nếu tốt hơn (RMSE gate)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data drift, tái huấn luyện (retrain) không cần can thiệp thủ công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giám sát cluster &amp; kết quả dự đoán thời gian thực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7373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874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chính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06840" y="17373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06840" y="1874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424160" y="173736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24160" y="1874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32461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2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3383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→ Spark → S3 → PostgreSQL → Dashboard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1 |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thể hệ thống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91640" cy="219456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tin đăng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(replay_producer)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51760" y="2377440"/>
            <a:ext cx="1691640" cy="219456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luồng,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1691640" cy="219456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S3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Bronze–Silver–Gold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(medallion)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2377440"/>
            <a:ext cx="1691640" cy="219456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Score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Promote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86800" y="2377440"/>
            <a:ext cx="1691640" cy="219456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dự đoán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378440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698480" y="2377440"/>
            <a:ext cx="1691640" cy="219456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9848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Architecture: Bronze (raw) → Silver (clean) → Gold (feature-ready) trên MinIO/S3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1 |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sử dụng &amp; lý do lựa chọn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chịu tải cao, mô phỏng luồng tin đăng liên tục thời gian thực.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317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phân tán, Trigger.AvailableNow() cho batch-as-stream.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7830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755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S3A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331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tương thích S3, lưu model + dữ liệu đa node.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4348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kết quả dự đoán, phục vụ truy vấn dashboard.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6576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4348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CrossValidator + ParamGridBuilder cho tuning tự động.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3657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38862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838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3858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434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giám sát cluster &amp; kết quả, triển khai nhanh.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1 |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Feature Pipeline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dữ liệu, xử lý luồng, và kỹ thuật đặc trưng vĩ mô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Người 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 thập &amp; mô phỏng luồng dữ liệu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replay_producer.py đọc dữ liệu seed (CSV) và đẩy vào Kafka topic theo nhịp thời gian thực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luồng tin đăng BĐS liên tục thay vì batch tĩnh một lần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đọc trực tiếp từ Kafka, xử lý theo micro-batch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chỉ đóng vai trò seed dữ liệu ban đầu — không phải nguồn chính của pipeline ML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1737360"/>
            <a:ext cx="4297680" cy="3291840"/>
          </a:xfrm>
          <a:prstGeom prst="roundRect">
            <a:avLst>
              <a:gd name="adj" fmla="val 2222"/>
            </a:avLst>
          </a:prstGeom>
          <a:solidFill>
            <a:srgbClr val="F2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dữ liệu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CSV seed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replay_producer.py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3383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Kafka topic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Spark Streaming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389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Bronze layer (S3)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2 |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— Bronze / Silver / Gold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B089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645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thô từ Kafka, giữ nguyên schema gốc, append-only.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063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063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sạch, chuẩn hoá kiểu dữ liệu, loại bỏ bản ghi lỗi.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480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4480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Feature-ready: đã join macro, sẵn sàng cho training/scoring.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2 |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feature_pipeline.py — xử lý dữ liệu null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gặp phải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dùng handleInvalid="error" — crash khi cột numeric có giá trị null (phát hiện trên dataset 20 dòng).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755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33172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coalesce(dist_center, 0.0) — null-guard trước khi đưa vào VectorAssembler, đảm bảo pipeline không crash.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dist_center: khoảng cách tới trung tâm, tính từ lat/lon — sau đó loại bỏ khỏi model vì thiếu dữ liệu toạ độ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mọi cột numeric đưa vào VectorAssembler phải được null-guard trước — tránh phụ thuộc dữ liệu đầu vào hoàn hảo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2 |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đặc trưng vĩ mô — macro_features.py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 / % change)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4592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4612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cột Monthly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(CPI / lãi suất)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7830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cột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3920" y="164592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Dual-feature design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(moving average) + pct (% change) cho mỗi chỉ số — bắt cả mức lẫn xu hướng.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series: giá thị trường, khối lượng giao dịch — moving average + % thay đổi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series: CPI, lãi suất huy động/cho vay — cập nhật theo tháng, ảnh hưởng dài hạn tới giá BĐS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fetch_macro.py: tách riêng nguồn market (tần suất cao) và monthly (tần suất thấp) trước khi join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2 |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 JOIN &amp; MACRO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Tránh lookahead bias &amp; xử lý dữ liệu ngắn hạn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 Join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macro feature theo đúng thời điểm tin đăng xuất hiện — chỉ dùng dữ liệu vĩ mô ĐÃ BIẾT tại thời điểm đó. Tránh lookahead bias: model không được "nhìn thấy tương lai" khi huấn luyện.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755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Gate (zero-variance filter)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33172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data span &lt; 6 tháng hoặc &lt; 3 tháng distinct → toàn bộ 14 cột macro bị drop trước khi vào model. Lý do: pool ngắn hạn khiến CPI/lãi suất gần như hằng số (zero variance) → không mang thông tin, gây lỗi StandardScaler (chia cho std=0).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2 |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luyện, tuning tự động và cơ chế promote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Người 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train.py — Luồng huấn luyện tổng quát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Gold data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194560"/>
            <a:ext cx="228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71800" y="21945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(VectorAssembler)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194560"/>
            <a:ext cx="228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0" y="21945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21945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CrossValidator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194560"/>
            <a:ext cx="228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60920" y="21945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21945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/ GBT)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194560"/>
            <a:ext cx="228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19456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21945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RMSE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dữ liệu Gold layer đã có đủ feature (bao gồm macro nếu gate cho phép)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candidate: Random Forest / Gradient Boosted Trees trong Spark MLlib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model artifact lưu lên S3, kèm metric RMSE để đánh giá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3 |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TỰ ĐỘNG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CrossValidator + ParamGridBuilder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ParamGridBuilder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lưới siêu tham số cần thử — ví dụ: số cây (numTrees), độ sâu (maxDepth). Sinh ra toàn bộ tổ hợp tham số cần đánh giá.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755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CrossValidator (k-fold)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33172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dữ liệu train thành k phần, huấn luyện &amp; đánh giá luân phiên trên từng tổ hợp tham số. Chọn ra bộ tham số cho RMSE trung bình tốt nhất — tránh overfit vào 1 tập validation cố định.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3 | 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promote.py — Kiểm soát chất lượng model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train xong model mới, so sánh RMSE với model đang production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promote (thay thế) nếu model mới có RMSE tốt hơn model cũ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current.json: con trỏ chỉ tới model đang được dùng để serving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cũ vẫn được lưu lại trên S3 — có thể rollback nếu cần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2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Gate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242316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0" y="2423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mới train xong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3246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RMSE_new &lt; RMSE_current 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0" y="384048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E82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→ Promote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18320" y="384048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B03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→ Giữ nguyên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3 |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ORCHESTRATION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retrain.sh — Luồng A, 5 bước tự động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Shape 4"/>
          <p:cNvSpPr/>
          <p:nvPr/>
        </p:nvSpPr>
        <p:spPr>
          <a:xfrm>
            <a:off x="891540" y="2103120"/>
            <a:ext cx="0" cy="365760"/>
          </a:xfrm>
          <a:prstGeom prst="line">
            <a:avLst/>
          </a:prstGeom>
          <a:noFill/>
          <a:ln w="25400">
            <a:solidFill>
              <a:srgbClr val="C7D3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600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macro &amp; market data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891540" y="2971800"/>
            <a:ext cx="0" cy="365760"/>
          </a:xfrm>
          <a:prstGeom prst="line">
            <a:avLst/>
          </a:prstGeom>
          <a:noFill/>
          <a:ln w="25400">
            <a:solidFill>
              <a:srgbClr val="C7D3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468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(gold layer)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891540" y="3840480"/>
            <a:ext cx="0" cy="365760"/>
          </a:xfrm>
          <a:prstGeom prst="line">
            <a:avLst/>
          </a:prstGeom>
          <a:noFill/>
          <a:ln w="25400">
            <a:solidFill>
              <a:srgbClr val="C7D3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3337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CrossValidator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891540" y="4709160"/>
            <a:ext cx="0" cy="365760"/>
          </a:xfrm>
          <a:prstGeom prst="line">
            <a:avLst/>
          </a:prstGeom>
          <a:noFill/>
          <a:ln w="25400">
            <a:solidFill>
              <a:srgbClr val="C7D3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RMSE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2" name="Shape 20"/>
          <p:cNvSpPr/>
          <p:nvPr/>
        </p:nvSpPr>
        <p:spPr>
          <a:xfrm>
            <a:off x="891540" y="5577840"/>
            <a:ext cx="0" cy="0"/>
          </a:xfrm>
          <a:prstGeom prst="line">
            <a:avLst/>
          </a:prstGeom>
          <a:noFill/>
          <a:ln w="25400">
            <a:solidFill>
              <a:srgbClr val="C7D3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5074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gate (current.json)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040880" y="160020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18288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69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1801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hoá hoàn toàn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2377440"/>
            <a:ext cx="4023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5 bước chạy tuần tự không cần can thiệp thủ công — kích hoạt định kỳ hoặc khi phát hiện drift (từ luồng B). Đảm bảo model luôn cập nhật theo dữ liệu mới nhất.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3 |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ABLATION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model có / không dùng macro features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2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RMSE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vs no-macro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73736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2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18745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 ngày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dài pool dữ liệu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tại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73736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2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87452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OFF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3200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gate tự động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tắt do span &lt; 6 tháng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330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giải kết quả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709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cho thấy kết quả gần như không đổi — KHÔNG phải vì macro features vô dụng, mà vì macro gate đã tự động loại bỏ 14 cột macro do dữ liệu quá ngắn (zero-variance). Đây là hành vi thiết kế đúng, không phải lỗi model.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3 |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Serving, Drift &amp; Demo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thời gian thực, giám sát và minh chứng hệ thống phân tán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bày: Người 4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DRIFT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score_new.py — Luồng 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thời gian thực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current (theo current.json) dự đoán giá cho tin đăng mới liên tục từ Kafka/Gold layer, không cần train lại.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755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33172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phân phối dữ liệu mới so với lúc train — phát hiện lệch (drift) để tự động kích hoạt retrain.sh (Luồng A) khi cần.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4 | 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đa node &amp; lưu trữ kết quả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load_predictions.py: ghi kết quả dự đoán từ Parquet vào PostgreSQL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multi-node: vm-master điều phối, worker VM xử lý song song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S3A fast-upload (ByteBuffer) — tránh crash buffer.dir trên worker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hadoop-aws version phải khớp đúng Spark/Hadoop 3.5.0 — lỗi version dễ gây crash job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173736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0" y="1874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(master/worker)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26880" y="173736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0" y="1874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S3A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MinIO/S3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3429000"/>
            <a:ext cx="4297680" cy="1874520"/>
          </a:xfrm>
          <a:prstGeom prst="roundRect">
            <a:avLst>
              <a:gd name="adj" fmla="val 3902"/>
            </a:avLst>
          </a:prstGeom>
          <a:solidFill>
            <a:srgbClr val="F2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35661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đích lưu trữ dự đoán cho dashboard truy vấn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4 | 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 chứng hệ thống phân tán thực chạy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demo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Chạy pipeline end-to-end trên cluster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Chủ động kill 1 worker node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Quan sát job vẫn hoàn thành nhờ Spark tự phân phối lại task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Xem kết quả trên Dashboard Streamlit thời gian thực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755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33172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trạng thái cluster (node nào đang sống), tiến độ retrain, và bảng dự đoán giá mới nhất — cập nhật trực tiếp từ PostgreSQL.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4 | 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424160" cy="1143000"/>
          </a:xfrm>
          <a:prstGeom prst="roundRect">
            <a:avLst>
              <a:gd name="adj" fmla="val 6400"/>
            </a:avLst>
          </a:prstGeom>
          <a:solidFill>
            <a:srgbClr val="2C3B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737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đạt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7373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phân tán end-to-end: ingest → feature → train → promote → serve → dashboard, chịu lỗi node.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10424160" cy="1143000"/>
          </a:xfrm>
          <a:prstGeom prst="roundRect">
            <a:avLst>
              <a:gd name="adj" fmla="val 6400"/>
            </a:avLst>
          </a:prstGeom>
          <a:solidFill>
            <a:srgbClr val="2C3B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31546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315468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dữ liệu hiện tại ngắn (~11 ngày) khiến macro gate luôn tắt, chưa đánh giá được đóng góp thực của 14 macro feature.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10424160" cy="1143000"/>
          </a:xfrm>
          <a:prstGeom prst="roundRect">
            <a:avLst>
              <a:gd name="adj" fmla="val 6400"/>
            </a:avLst>
          </a:prstGeom>
          <a:solidFill>
            <a:srgbClr val="2C3B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5720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tới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5720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luỹ dữ liệu dài hạn (≥6 tháng) để bật macro gate, đánh giá lại ablation; mở rộng drift detection nâng cao.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Hội đồng — Q&amp;A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2026-09-20T13:30:45Z</dcterms:created>
  <dcterms:modified xsi:type="dcterms:W3CDTF">2026-09-20T13:30:45Z</dcterms:modified>
</cp:coreProperties>
</file>